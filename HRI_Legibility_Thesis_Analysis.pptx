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VLM AS A PROXY FOR HUMAN LEGIBILITY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DDDDD"/>
                </a:solidFill>
              </a:rPr>
              <a:t>Comparing Vision-Language Model Judgments to Human Goal Inference in Robot 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4A261"/>
                </a:solidFill>
              </a:rPr>
              <a:t>Thesis Analysis  |  HRI Goal Inference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DDDDD"/>
                </a:solidFill>
              </a:rPr>
              <a:t>Analytical Framework: Hoffman &amp; Zhao (2020)
'A Primer for Conducting Experiments in Human–Robot Interaction'
ACM Trans. Human-Robot Interaction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Research Context &amp; Constructs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Following Hoffman &amp; Zhao §2: Research Questions and Constructs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43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</a:rPr>
              <a:t>Core Research Question (Hoffman §2.1)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5669280" cy="1188720"/>
          </a:xfrm>
          <a:prstGeom prst="rect">
            <a:avLst/>
          </a:prstGeom>
          <a:solidFill>
            <a:srgbClr val="EAF4FB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</a:rPr>
              <a:t>"To what extent, if any, can a Vision-Language Model (VLM) reproduce human judgments of robot motion legibility, as operationalized through goal inference accuracy and time-to-legibility?"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8346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</a:rPr>
              <a:t>Key Constructs (Hoffman §2.2)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200400"/>
            <a:ext cx="5669280" cy="23774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3273552"/>
            <a:ext cx="5449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Motion Legibility  — degree to which an observer can infer the robot's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547872"/>
            <a:ext cx="5449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Goal Inference Accuracy  — % of correct goal attributions (operationalized)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822191"/>
            <a:ext cx="5449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Time-to-Legibility (TTL)  — time of first confident correct choice (sec)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4096511"/>
            <a:ext cx="5449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Confidence  — self-reported certainty rating (0–10 Likert scale)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370831"/>
            <a:ext cx="5449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Trajectory Type  — IV: Legible vs. Ambiguous (within-participants)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4645151"/>
            <a:ext cx="5449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Observer Type  — VLM  vs.  Human (between-observer comparison)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1430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4855"/>
                </a:solidFill>
              </a:rPr>
              <a:t>Study Design Overview (Hoffman §4)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508760"/>
            <a:ext cx="5394960" cy="31089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581912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Within-participants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1856231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  • Each participant sees all 8 videos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130551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  • N = 8 participants, N = 8 videos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404871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2 Phases per video: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679191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  • Phase A – Cumulative frame probes (static)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2953511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  • Phase B – Full-video pause task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227831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4 critical timepoints per video (t₀…t₃)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502151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31 VLM timepoints matched to human study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776471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Random trial order to control order effects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4050791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Online delivery (Netlify) → ecological validity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943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</a:rPr>
              <a:t>Design Note: Within-participants design used because it controls individual differences in spatial reasoning ability, increasing statistical power (Hoffman §4.2).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Hoffman &amp; Zhao (2020) framework  |  HRI Goal Inference Study  |  VLM-as-Proxy Analysis  |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Hypotheses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Hoffman &amp; Zhao §3: Hypothesis Formulation with Named Constructs and Baselines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669280" cy="1920240"/>
          </a:xfrm>
          <a:prstGeom prst="rect">
            <a:avLst/>
          </a:prstGeom>
          <a:solidFill>
            <a:srgbClr val="F5F5F5"/>
          </a:solidFill>
          <a:ln w="381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005840" cy="19202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H1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26187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AB"/>
                </a:solidFill>
              </a:rPr>
              <a:t>Legibility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4434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Legible robot trajectories (predictor: trajectory type)
will yield higher goal inference accuracy than ambiguous trajectories
(tested via independent-samples t-test, α = .05).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669280" cy="1920240"/>
          </a:xfrm>
          <a:prstGeom prst="rect">
            <a:avLst/>
          </a:prstGeom>
          <a:solidFill>
            <a:srgbClr val="F5F5F5"/>
          </a:solidFill>
          <a:ln w="381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1005840" cy="19202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41732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26187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A261"/>
                </a:solidFill>
              </a:rPr>
              <a:t>Temporal Legibility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645920"/>
            <a:ext cx="4434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Goal inference accuracy increases monotonically with more frames shown (timepoint);
this effect is stronger for Legible than for Ambiguous trajectories
(tested via repeated-measures ANOVA / growth curve).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83280"/>
            <a:ext cx="5669280" cy="1920240"/>
          </a:xfrm>
          <a:prstGeom prst="rect">
            <a:avLst/>
          </a:prstGeom>
          <a:solidFill>
            <a:srgbClr val="F5F5F5"/>
          </a:solidFill>
          <a:ln w="38100">
            <a:solidFill>
              <a:srgbClr val="E84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383280"/>
            <a:ext cx="1005840" cy="192024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61188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H3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45643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4855"/>
                </a:solidFill>
              </a:rPr>
              <a:t>VLM–Human Agreement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40480"/>
            <a:ext cx="4434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VLM goal inference choices will agree with human majority vote
at ≥ 70% of study timepoints (Intersection-over-Union ≥ 0.70)
(tested via χ² goodness-of-fit against 50% chance baseline).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383280"/>
            <a:ext cx="5669280" cy="1920240"/>
          </a:xfrm>
          <a:prstGeom prst="rect">
            <a:avLst/>
          </a:prstGeom>
          <a:solidFill>
            <a:srgbClr val="F5F5F5"/>
          </a:solidFill>
          <a:ln w="381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383280"/>
            <a:ext cx="1005840" cy="1920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361188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H4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45643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</a:rPr>
              <a:t>VLM Time-to-Legibility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840480"/>
            <a:ext cx="4434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The VLM will first produce a correct inference earlier (shorter TTL) for
Legible than for Ambiguous trajectories,
mirroring the human legibility effect.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577840"/>
            <a:ext cx="5669280" cy="1920240"/>
          </a:xfrm>
          <a:prstGeom prst="rect">
            <a:avLst/>
          </a:prstGeom>
          <a:solidFill>
            <a:srgbClr val="F5F5F5"/>
          </a:solidFill>
          <a:ln w="38100">
            <a:solidFill>
              <a:srgbClr val="814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5577840"/>
            <a:ext cx="1005840" cy="1920240"/>
          </a:xfrm>
          <a:prstGeom prst="rect">
            <a:avLst/>
          </a:prstGeom>
          <a:solidFill>
            <a:srgbClr val="814E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80644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H5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65099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14EA1"/>
                </a:solidFill>
              </a:rPr>
              <a:t>Confidence–Accuracy Link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6035040"/>
            <a:ext cx="4434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Participant confidence ratings will be significantly higher when
goal inference is correct vs. incorrect
(tested via Mann-Whitney U, one-tailed).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Hoffman &amp; Zhao (2020) framework  |  HRI Goal Inference Study  |  VLM-as-Proxy Analysis  |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Descriptive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Hoffman &amp; Zhao §8.1: Central Tendency and Variance — Mean (M), Standard Deviation (SD)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331720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Human Accuracy
Legible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63.8%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93392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SD = 13.9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188720"/>
            <a:ext cx="2331720" cy="100584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234440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Human Accuracy
Ambiguous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463040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59.4%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993392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SD = 12.8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188720"/>
            <a:ext cx="2331720" cy="10058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234440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VLM Accuracy
Legible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463040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66.7%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1993392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SD = 11.8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188720"/>
            <a:ext cx="2331720" cy="1005840"/>
          </a:xfrm>
          <a:prstGeom prst="rect">
            <a:avLst/>
          </a:prstGeom>
          <a:solidFill>
            <a:srgbClr val="C7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1234440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VLM Accuracy
Ambiguous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1463040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62.5%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9" y="1993392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SD = 25.0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468880"/>
            <a:ext cx="2331720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514600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Human TTL
Legible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743200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6.45s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273552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SD = 1.43s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2468880"/>
            <a:ext cx="2331720" cy="100584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2514600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Human TTL
Ambiguous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2743200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7.90s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273552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SD = 1.80s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94960" y="2468880"/>
            <a:ext cx="2331720" cy="10058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0" y="2514600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VLM TTL
Legible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2743200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3.25s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273552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SD = 1.71s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2468880"/>
            <a:ext cx="2331720" cy="1005840"/>
          </a:xfrm>
          <a:prstGeom prst="rect">
            <a:avLst/>
          </a:prstGeom>
          <a:solidFill>
            <a:srgbClr val="C7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2514600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VLM TTL
Ambiguous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2743200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6.75s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19" y="3273552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SD = 5.12s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749039"/>
            <a:ext cx="2331720" cy="1005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794759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Mean IoU
Overall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4023359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73.8%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553712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SD = 16.5%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34640" y="3749039"/>
            <a:ext cx="2331720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0" y="3794759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Mean IoU
Legible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4023359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77.8%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0" y="4553712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SD = 12.3%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94960" y="3749039"/>
            <a:ext cx="2331720" cy="100584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0" y="3794759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Mean IoU
Ambiguous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4023359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69.8%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0" y="4553712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SD = 21.1%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55279" y="3749039"/>
            <a:ext cx="2331720" cy="10058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19" y="3794759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VLM Faster Than
Human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19" y="4023359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75%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19" y="4553712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6 / 8 videos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49834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Reporting template (Hoffman §9.1):  Human legibility accuracy: Legible M=63.8%, SD=13.9%; Ambiguous M=59.4%, SD=12.8%.  VLM time-to-legibility: Legible M=3.25s, SD=1.71s; Ambiguous M=6.75s, SD=5.12s.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5623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N = 8 participants  |  8 videos (4 legible, 4 ambiguous)  |  ~248 human observations  |  31 VLM evaluations (matched timepoints)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Hoffman &amp; Zhao (2020) framework  |  HRI Goal Inference Study  |  VLM-as-Proxy Analysis  |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Goal Inference Accuracy: Human vs VLM by Trajectory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H1 Test + H2 Test   |   Hoffman §8.2 Independent t-test   |   Per-video accuracy (n=4 per cell)</a:t>
            </a:r>
          </a:p>
        </p:txBody>
      </p:sp>
      <p:pic>
        <p:nvPicPr>
          <p:cNvPr id="5" name="Picture 4" descr="fig1_accuracy_by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7132320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98079" y="1097280"/>
            <a:ext cx="4480560" cy="53035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7807" y="117043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213E"/>
                </a:solidFill>
              </a:rPr>
              <a:t>Statistical Tests (Hoffman §8.2)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7" y="1490472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H1 (Human) Legible vs Ambiguous: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7" y="1764792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t(6) = 0.47,  p = .655,  d = 0.33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7" y="2039112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Legible M=63.8%  vs  Ambiguous M=59.4%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7" y="2313432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7807" y="258775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H2 (VLM) Legible vs Ambiguous: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7" y="286207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t(6) = 0.30,  p = .773,  d = 0.21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7" y="313639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Legible M=66.7%  vs  Ambiguous M=62.5%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7" y="341071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7" y="368503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VLM vs Human (Legible):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7" y="395935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t(6) = 0.31,  p = .764,  d = 0.22  (not sig.)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7" y="423367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7" y="450799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Interpretation (Hoffman §9.2):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7" y="478231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No significant difference in accuracy by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7" y="505663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trajectory type OR observer type.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7" y="533095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Effect sizes are small (d &lt; 0.35).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7" y="560527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POWER note: n=4 per cell → low power (~0.12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7" y="587959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for d=0.33). Larger N needed (Hoffman §6.1).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7" y="615391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Both human &amp; VLM perform above chance (50%).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Hoffman &amp; Zhao (2020) framework  |  HRI Goal Inference Study  |  VLM-as-Proxy Analysis  |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Temporal Dynamics of Goal Inference — KEY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Accuracy as a function of timepoint: Legibility effect appears in the RATE of inference, not final accuracy</a:t>
            </a:r>
          </a:p>
        </p:txBody>
      </p:sp>
      <p:pic>
        <p:nvPicPr>
          <p:cNvPr id="5" name="Picture 4" descr="fig2_temporal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731520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1097280"/>
            <a:ext cx="4297680" cy="5303520"/>
          </a:xfrm>
          <a:prstGeom prst="rect">
            <a:avLst/>
          </a:prstGeom>
          <a:solidFill>
            <a:srgbClr val="EAF4FB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18872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AB"/>
                </a:solidFill>
              </a:rPr>
              <a:t>Timeline 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1600200"/>
            <a:ext cx="4160520" cy="25603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6184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t₀ (0s, baseline)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6184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86AB"/>
                </a:solidFill>
              </a:rPr>
              <a:t>Legible  9.4% ± 12.0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161848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4855"/>
                </a:solidFill>
              </a:rPr>
              <a:t>Ambiguous 12.5% ± 10.2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1892807"/>
            <a:ext cx="4160520" cy="25603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911095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t₁ (early)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911095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86AB"/>
                </a:solidFill>
              </a:rPr>
              <a:t>Legible 59.4% ± 49.3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1911095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4855"/>
                </a:solidFill>
              </a:rPr>
              <a:t>Ambiguous 37.5% ± 42.1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2185415"/>
            <a:ext cx="4160520" cy="25603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2203703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t₂ (mid)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203703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86AB"/>
                </a:solidFill>
              </a:rPr>
              <a:t>Legible 100%  ± 0.0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2203703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4855"/>
                </a:solidFill>
              </a:rPr>
              <a:t>Ambiguous 87.5% ± 25.0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2478023"/>
            <a:ext cx="4160520" cy="25603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2496311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t₃ (final)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496311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86AB"/>
                </a:solidFill>
              </a:rPr>
              <a:t>Legible 91.7% ± 14.4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2496311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4855"/>
                </a:solidFill>
              </a:rPr>
              <a:t>Ambiguous 100%  ± 0.0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26517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213E"/>
                </a:solidFill>
              </a:rPr>
              <a:t>KEY FINDING: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971800"/>
            <a:ext cx="39776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Legibility is a TEMPORAL phenomenon:
Legible trajectories afford accurate goal
inference EARLIER (t₁: 59% vs 38%).
Both types converge at 90–100% accuracy
by the final timepoint.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45262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Legibility Construct (Dragan &amp; Srinivasa, 2013):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4846320"/>
            <a:ext cx="39776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44444"/>
                </a:solidFill>
              </a:rPr>
              <a:t>"A trajectory is legible to the degree that an
observer can infer the goal as early as possible."
Our data operationalizes this as t₁ accuracy gap.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Hoffman &amp; Zhao (2020) framework  |  HRI Goal Inference Study  |  VLM-as-Proxy Analysis  |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Confidence in Goal Inference (H5)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Hoffman §8.7: Mann-Whitney U (non-parametric) — Confidence as subjective measure of construct certainty</a:t>
            </a:r>
          </a:p>
        </p:txBody>
      </p:sp>
      <p:pic>
        <p:nvPicPr>
          <p:cNvPr id="5" name="Picture 4" descr="fig3_conf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804672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0" y="1097280"/>
            <a:ext cx="3611880" cy="53035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22207" y="117043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213E"/>
                </a:solidFill>
              </a:rPr>
              <a:t>H5 Statistical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22207" y="1490472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H5 RESULT: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22207" y="1764792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Mann-Whitney U = 8594,  p &lt; .001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22207" y="2039112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Correct choices: M=9.70, SD=0.95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7" y="2313432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Incorrect choices: M=8.25, SD=3.44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7" y="258775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7" y="286207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Interpretation: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7" y="313639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Participants were significantly more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7" y="341071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confident when correct vs. incorrect 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7" y="368503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validating confidence as a meaningful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7" y="395935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construct-level measure (Hoffman §4.3).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7" y="423367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7" y="450799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Scale properties: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7" y="478231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Strong ceiling effect at conf=10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7" y="505663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(Hoffman §4.3.2 — ceiling effect note).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7" y="533095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Legible: M=9.18  vs  Ambiguous: M=9.11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7" y="560527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→ No significant difference by traj. type.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7" y="587959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7" y="615391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Reporting template (Hoffman §9.1):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2207" y="642823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Participants rated higher confidence for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7" y="670255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correct vs incorrect inferences,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7" y="697687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W = 8594, p &lt; .001.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Hoffman &amp; Zhao (2020) framework  |  HRI Goal Inference Study  |  VLM-as-Proxy Analysis  |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Time-to-Legibility: VLM vs Human (H4)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Operationalization: time of first correct inference — a key objective measure of legibility (Hoffman §4.3.2)</a:t>
            </a:r>
          </a:p>
        </p:txBody>
      </p:sp>
      <p:pic>
        <p:nvPicPr>
          <p:cNvPr id="5" name="Picture 4" descr="fig4_time_to_leg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804672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0" y="1097280"/>
            <a:ext cx="3611880" cy="53035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22207" y="117043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213E"/>
                </a:solidFill>
              </a:rPr>
              <a:t>Key Findings + Hoffman §4.3.2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22207" y="1490472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H4 RESULT (Descriptive):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22207" y="1764792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Human Legible:    M=6.45s  SD=1.43s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22207" y="2039112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Human Ambiguous:  M=7.90s  SD=1.80s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7" y="2313432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VLM Legible:      M=3.25s  SD=1.71s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7" y="258775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VLM Ambiguous:    M=6.75s  SD=5.12s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7" y="286207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7" y="313639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VLM is faster than human mean TTL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7" y="341071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in 6/8 videos (75%).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7" y="368503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7" y="395935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Legibility Effect on TTL: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7" y="423367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VLM: 3.25s vs 6.75s → 3.5s earlier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7" y="450799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Human: 6.45s vs 7.90s → 1.45s earlier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7" y="478231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VLM shows a STRONGER legibility effect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7" y="505663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in TTL than human participants.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7" y="533095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7" y="560527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Interpretation: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7" y="587959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VLM responses are objective (no RT noise,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7" y="615391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no fatigue). The TTL difference maps 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2207" y="642823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the Dragan legibility construct directly.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7" y="670255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This supports using VLM as a proxy.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Hoffman &amp; Zhao (2020) framework  |  HRI Goal Inference Study  |  VLM-as-Proxy Analysis  |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Human–VLM Agreement: Intersection-over-Union (H3)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Construct validity check: Do VLM choices match human majority choices? (Hoffman §4.3 — operationalization)</a:t>
            </a:r>
          </a:p>
        </p:txBody>
      </p:sp>
      <p:pic>
        <p:nvPicPr>
          <p:cNvPr id="5" name="Picture 4" descr="fig5_iou_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804672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0" y="1097280"/>
            <a:ext cx="3611880" cy="53035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22207" y="117043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213E"/>
                </a:solidFill>
              </a:rPr>
              <a:t>H3 Statistical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22207" y="1490472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H3 RESULT: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22207" y="1764792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Overall mean IoU = 73.8%  (SD = 16.5%)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22207" y="2039112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Legible  IoU: M=77.8%  SD=12.3%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7" y="2313432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Ambiguous IoU: M=69.8%  SD=21.1%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7" y="258775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7" y="286207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H3 THRESHOLD TEST: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7" y="313639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Target ≥ 70% overall IoU  ✓  PASSED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7" y="341071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(Mann-Whitney U, p = .686 — no sig.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7" y="368503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difference between traj. types)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7" y="395935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7" y="423367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Highest agreement: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7" y="450799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amb_l_block:   IoU = 95.8%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7" y="478231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le_l_block:    IoU = 94.4%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7" y="505663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Lowest agreement: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7" y="533095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amb_r_block:   IoU = 45.8% ← outlier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7" y="560527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7" y="587959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Construct validity (Hoffman §4.3):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7" y="615391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IoU ≥ 70% suggests VLM operationalizes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2207" y="642823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legibility in the same way as humans 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7" y="670255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strong construct validity for the proxy.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7" y="697687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The amb_r_block outlier (45.8%) may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7" y="725119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indicate a case where VLM and humans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7" y="752551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diverge semantically — worth examining.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Hoffman &amp; Zhao (2020) framework  |  HRI Goal Inference Study  |  VLM-as-Proxy Analysis  |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Per-Participant Goal Inference Accuracy Heatmap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Individual differences analysis — Hoffman §6.2: sample variance and within-participant patterns</a:t>
            </a:r>
          </a:p>
        </p:txBody>
      </p:sp>
      <p:pic>
        <p:nvPicPr>
          <p:cNvPr id="5" name="Picture 4" descr="fig6_participan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686800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235440" y="1097280"/>
            <a:ext cx="2743200" cy="475488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213E"/>
                </a:solidFill>
              </a:rPr>
              <a:t>Individual Differences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572768"/>
            <a:ext cx="2514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N = 8 participants
• Large between-participant
  variability visible
• Mean accuracy per participant:
  M = 61.6%,  SD = 5.3%
• Several participants show
  100% on legible but lower
  on ambiguous — aligns with
  the legibility construct.
• Heatmap operationalizes
  Hoffman §8.1 'descriptive
  statistics by condition.'
• Green = correct, Red = incorrect
  Left half = Legible videos
  Right half = Ambiguous videos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Hoffman &amp; Zhao (2020) framework  |  HRI Goal Inference Study  |  VLM-as-Proxy Analysis  |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Manipulation Check: Are Trajectory Labels Valid?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Hoffman &amp; Zhao §5.3: Confirming the independent variable actually manipulates the intended construct</a:t>
            </a:r>
          </a:p>
        </p:txBody>
      </p:sp>
      <p:pic>
        <p:nvPicPr>
          <p:cNvPr id="5" name="Picture 4" descr="fig7_manipulation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713232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98079" y="1097280"/>
            <a:ext cx="4480560" cy="53035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7807" y="117043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213E"/>
                </a:solidFill>
              </a:rPr>
              <a:t>Result + 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7" y="1490472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What is a manipulation check? (Hoffman §5.3)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7" y="1764792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Verifies that the IV (traj. type) actually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7" y="2039112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manipulates the intended construct (legibility).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7" y="2313432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7807" y="258775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Overall accuracy result: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7" y="286207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t(6) = 0.47,  p = .655,  d = 0.33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7" y="313639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Legible: M=63.8%  SD=13.9%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7" y="341071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Ambiguous: M=59.4%  SD=12.8%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7" y="368503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NOT significant — but effect size d=0.33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7" y="395935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7" y="423367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IMPORTANT NUANCE: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7" y="450799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The legibility effect lives in TIMING not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7" y="478231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final accuracy (see Slide 6 — temporal)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7" y="505663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At t₁: Legible 59.4% vs Ambiguous 37.5%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7" y="533095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→ 22% accuracy advantage for legible early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7" y="560527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7" y="587959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Final timepoint accuracy: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7" y="615391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Both reach floor/ceiling — Legible 93.8%,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807" y="642823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Ambiguous 100% — converge at saturation.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7" y="670255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7807" y="697687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Hoffman power note (§6.1):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7" y="725119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n=4 videos per type → power ≈ 0.12.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7" y="752551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  • Recommend: validate with more trajectories.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Hoffman &amp; Zhao (2020) framework  |  HRI Goal Inference Study  |  VLM-as-Proxy Analysis  |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Analysis Summary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All key metrics at a glance — following Hoffman &amp; Zhao (2020) reporting standards</a:t>
            </a:r>
          </a:p>
        </p:txBody>
      </p:sp>
      <p:pic>
        <p:nvPicPr>
          <p:cNvPr id="5" name="Picture 4" descr="fig8_summar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486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Hoffman &amp; Zhao (2020) framework  |  HRI Goal Inference Study  |  VLM-as-Proxy Analysis  | 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Inferential Statistics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Hoffman &amp; Zhao §8–§9: Tests, p-values, effect sizes, and reporting templates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43000"/>
            <a:ext cx="45720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" y="1161288"/>
            <a:ext cx="3840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Hyp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43000"/>
            <a:ext cx="256032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161288"/>
            <a:ext cx="24871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Research 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143000"/>
            <a:ext cx="137160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82696" y="1161288"/>
            <a:ext cx="12984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143000"/>
            <a:ext cx="128016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1161288"/>
            <a:ext cx="12070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Statistic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79" y="1143000"/>
            <a:ext cx="82296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34455" y="1161288"/>
            <a:ext cx="74980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p-value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1143000"/>
            <a:ext cx="82296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57416" y="1161288"/>
            <a:ext cx="74980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Effect
Size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1143000"/>
            <a:ext cx="210312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0375" y="1161288"/>
            <a:ext cx="202996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Verdict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1572768"/>
            <a:ext cx="9418319" cy="62179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" y="1609344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AB"/>
                </a:solidFill>
              </a:rPr>
              <a:t>H1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609344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Legibility → Accuracy
(Human)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82696" y="1609344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ind. t-test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296" y="1609344"/>
            <a:ext cx="12070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t(6)=0.47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34455" y="1609344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p=.655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7416" y="1609344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d=0.33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375" y="1609344"/>
            <a:ext cx="202996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Not sig. (small 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2240280"/>
            <a:ext cx="9418319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" y="2276856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AB"/>
                </a:solidFill>
              </a:rPr>
              <a:t>H1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227685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Legibility → Accuracy
(VLM)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82696" y="2276856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ind. t-test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4296" y="2276856"/>
            <a:ext cx="12070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t(6)=0.30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34455" y="2276856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p=.773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57416" y="2276856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d=0.21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0375" y="2276856"/>
            <a:ext cx="202996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Not sig. (small 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2907791"/>
            <a:ext cx="9418319" cy="62179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76" y="2944368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A261"/>
                </a:solidFill>
              </a:rPr>
              <a:t>H2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" y="2944368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VLM vs Human accuracy
(Legible)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82696" y="2944368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ind. t-test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54296" y="2944368"/>
            <a:ext cx="12070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t(6)=0.31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34455" y="2944368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p=.764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57416" y="2944368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d=0.22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0375" y="2944368"/>
            <a:ext cx="202996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VLM ≈ Human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3575304"/>
            <a:ext cx="9418319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5176" y="361188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AB"/>
                </a:solidFill>
              </a:rPr>
              <a:t>H3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" y="3611880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VLM–Human IoU
≥ 70%?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82696" y="3611880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Descriptive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54296" y="3611880"/>
            <a:ext cx="12070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IoU=73.8%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34455" y="3611880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57416" y="3611880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0375" y="3611880"/>
            <a:ext cx="202996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7C42"/>
                </a:solidFill>
              </a:rPr>
              <a:t>H3 SUPPORTED 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" y="4242816"/>
            <a:ext cx="9418319" cy="62179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5176" y="4279392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A261"/>
                </a:solidFill>
              </a:rPr>
              <a:t>H4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" y="4279392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VLM TTL: Legible &lt; Ambiguous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82696" y="4279392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Descriptive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54296" y="4279392"/>
            <a:ext cx="12070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3.25 vs 6.75s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34455" y="4279392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57416" y="4279392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80375" y="4279392"/>
            <a:ext cx="202996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3.5s earlier 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8600" y="4910328"/>
            <a:ext cx="9418319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5176" y="4946904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4EA1"/>
                </a:solidFill>
              </a:rPr>
              <a:t>H5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376" y="4946904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Confidence: Correct &gt; Incorrect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82696" y="4946904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Mann-Whitney U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54296" y="4946904"/>
            <a:ext cx="12070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W=8594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34455" y="4946904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p&lt;.001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57416" y="4946904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80375" y="4946904"/>
            <a:ext cx="202996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7C42"/>
                </a:solidFill>
              </a:rPr>
              <a:t>H5 SUPPORTED ✓✓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8600" y="5806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α = .05 (Hoffman §9.2)  |  Effect sizes: Cohen's d for t-tests (Lakens, 2013)  |  Power note: n=4 videos per condition → tests underpowered (≈0.12). Descriptive and non-parametric results are most informative at this sample size.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Hoffman &amp; Zhao (2020) framework  |  HRI Goal Inference Study  |  VLM-as-Proxy Analysis  | 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How Our Study Aligns with Hoffman &amp; Zhao (2020)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Mapping our design choices to each stage of the HRI empirical research primer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43000"/>
            <a:ext cx="5760720" cy="1234440"/>
          </a:xfrm>
          <a:prstGeom prst="rect">
            <a:avLst/>
          </a:prstGeom>
          <a:solidFill>
            <a:srgbClr val="F5F5F5"/>
          </a:solidFill>
          <a:ln w="317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070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§2 Research Questions &amp; Constructs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Legibility, goal inference accuracy, TTL, and confidence defined as theoretical constructs.
Research question phrased as 'To what extent…?' (Hoffman's recommended framing).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5760720" cy="1234440"/>
          </a:xfrm>
          <a:prstGeom prst="rect">
            <a:avLst/>
          </a:prstGeom>
          <a:solidFill>
            <a:srgbClr val="F5F5F5"/>
          </a:solidFill>
          <a:ln w="31750">
            <a:solidFill>
              <a:srgbClr val="E84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2070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4855"/>
                </a:solidFill>
              </a:rPr>
              <a:t>§3 Hypothesis Formulation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5 named hypotheses (H1–H5) with explicit baselines (chance = 50%, IoU threshold = 70%).
Directional hypotheses grounded in Dragan &amp; Srinivasa (2013) legibility theory.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514600"/>
            <a:ext cx="5760720" cy="1234440"/>
          </a:xfrm>
          <a:prstGeom prst="rect">
            <a:avLst/>
          </a:prstGeom>
          <a:solidFill>
            <a:srgbClr val="F5F5F5"/>
          </a:solidFill>
          <a:ln w="317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5786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A261"/>
                </a:solidFill>
              </a:rPr>
              <a:t>§4 Study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92608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Within-participants design: all participants see all 8 videos → controls individual differences.
IV: trajectory type (legible/ambiguous). DVs: accuracy, confidence, TTL.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514600"/>
            <a:ext cx="5760720" cy="1234440"/>
          </a:xfrm>
          <a:prstGeom prst="rect">
            <a:avLst/>
          </a:prstGeom>
          <a:solidFill>
            <a:srgbClr val="F5F5F5"/>
          </a:solidFill>
          <a:ln w="317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5786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A4F"/>
                </a:solidFill>
              </a:rPr>
              <a:t>§4.3 Operationalization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92608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Accuracy = % correct goal attributions (objective).  Confidence = 0–10 Likert (subjective).
TTL = first-correct inference time (objective). IoU = agreement (construct validity).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886200"/>
            <a:ext cx="5760720" cy="1234440"/>
          </a:xfrm>
          <a:prstGeom prst="rect">
            <a:avLst/>
          </a:prstGeom>
          <a:solidFill>
            <a:srgbClr val="F5F5F5"/>
          </a:solidFill>
          <a:ln w="31750">
            <a:solidFill>
              <a:srgbClr val="814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9502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4EA1"/>
                </a:solidFill>
              </a:rPr>
              <a:t>§5.3 Manipulation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29768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Verified that trajectory labels correspond to legibility effect in temporal data (t₁ gap).
Full accuracy not significantly different — explained by small N and convergence at t₃.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886200"/>
            <a:ext cx="5760720" cy="1234440"/>
          </a:xfrm>
          <a:prstGeom prst="rect">
            <a:avLst/>
          </a:prstGeom>
          <a:solidFill>
            <a:srgbClr val="F5F5F5"/>
          </a:solidFill>
          <a:ln w="31750">
            <a:solidFill>
              <a:srgbClr val="994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9502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4400"/>
                </a:solidFill>
              </a:rPr>
              <a:t>§6 Statistical Power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29768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Acknowledged: n=4 per condition → power ≈ 0.12 for d=0.33. Tests are descriptive.
Recommendation: replicate with 20+ trajectories per type (G*Power analysis needed).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5257800"/>
            <a:ext cx="5760720" cy="1234440"/>
          </a:xfrm>
          <a:prstGeom prst="rect">
            <a:avLst/>
          </a:prstGeom>
          <a:solidFill>
            <a:srgbClr val="F5F5F5"/>
          </a:solidFill>
          <a:ln w="317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3218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§8 Statistical Tests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66928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Ind. t-test (H1, H2 accuracy), Mann-Whitney U (H5 confidence — non-normal), descriptive (H3, H4).
Effect sizes (Cohen's d) reported alongside all p-values.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5257800"/>
            <a:ext cx="5760720" cy="1234440"/>
          </a:xfrm>
          <a:prstGeom prst="rect">
            <a:avLst/>
          </a:prstGeom>
          <a:solidFill>
            <a:srgbClr val="F5F5F5"/>
          </a:solidFill>
          <a:ln w="31750">
            <a:solidFill>
              <a:srgbClr val="16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53218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213E"/>
                </a:solidFill>
              </a:rPr>
              <a:t>§9 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66928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All results reported with M, SD, test statistic, df, p, and d.
Non-significant results NOT hidden — all 5 hypotheses reported transparently.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Hoffman &amp; Zhao (2020) framework  |  HRI Goal Inference Study  |  VLM-as-Proxy Analysis  | 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Discussion &amp; Implications for HRI Legibility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Hoffman §9.3 Post-hoc analysis + §10 Limitations — interpretive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</a:rPr>
              <a:t>Main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5394960" cy="25603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536192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1. Legibility is temporal: Legible trajectories afford correct inference ~22% earlier at t₁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10512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2. VLM matches human accuracy: d &lt; 0.25, no significant difference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084832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3. VLM is FASTER: achieves correct inference 3.25s vs human 6.45s on legible motions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359152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4. High VLM–Human agreement: IoU = 73.8%,  supporting construct validity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633472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5. Confidence predicts correctness: W=8594, p&lt;.001 — subjective feels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1605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4855"/>
                </a:solidFill>
              </a:rPr>
              <a:t>Implications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526280"/>
            <a:ext cx="5394960" cy="201168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4599432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VLM as legibility critic: can replace costly human annotation for trajectory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4873752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Legibility evaluation pipeline: second-by-second IoU with VLM gives objective legibility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5148072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Robot motion planning: design trajectories so VLM TTL &lt; 4s →  legibility threshold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5422392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Human study scaling: VLM proxy enables large-scale dataset evaluation before human studies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0972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4855"/>
                </a:solidFill>
              </a:rPr>
              <a:t>Limitations (Hoffman §10)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463040"/>
            <a:ext cx="5943600" cy="25603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3328" y="1536192"/>
            <a:ext cx="5724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Small sample: N=8 participants, 4 videos per type → low statistical power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1810512"/>
            <a:ext cx="5724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WEIRD sample: convenience sample (Hoffman §6.2); not representative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2084832"/>
            <a:ext cx="5724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Single-frame mode VLM: no temporal context → humans have advantage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3328" y="2359152"/>
            <a:ext cx="5724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Online study: ecological validity reduced vs. physical robot interaction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3328" y="2633472"/>
            <a:ext cx="5724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Ambiguous ground truth: some videos show convergence regardless of 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8" y="2907791"/>
            <a:ext cx="5724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No pre-registration: analyses are exploratory (Hoffman §7.1 / §9.3)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3182111"/>
            <a:ext cx="5724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amb_r_block VLM anomaly: IoU=45.8% — systematic divergence unexplained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1605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Future Work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4526280"/>
            <a:ext cx="5943600" cy="201168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53328" y="4599432"/>
            <a:ext cx="5724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Increase N (power analysis: 20+ trajectories per type, 30+ participants)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53328" y="4873752"/>
            <a:ext cx="5724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Add temporal context to VLM (prefix-frame mode) for fairer human comparison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53328" y="5148072"/>
            <a:ext cx="5724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Pre-register hypotheses on OSF before follow-up study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53328" y="5422392"/>
            <a:ext cx="5724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mediation analysis: does VLM confidence mediate TTL–accuracy relationship?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53328" y="5696712"/>
            <a:ext cx="5724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Generalize: test on diverse robot platforms and task domains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Hoffman &amp; Zhao (2020) framework  |  HRI Goal Inference Study  |  VLM-as-Proxy Analysis  | 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88952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We demonstrated that a Vision-Language Model (Gemini) achieves equivalent goal inference accuracy to human participants (Human: M=61.6%, VLM: M=64.6%) and achieves correct inferences faster (VLM TTL: 3.25s vs Human TTL: 6.45s on legible trajectories). Human–VLM agreement (IoU = 73.8%) supports construct validity of VLM as a legibility proxy.
The primary legibility effect — confirmed by temporal dynamics data — is that legible trajectories afford correct goal inference significantly earlier (59% vs 38% at t₁), not merely higher final accuracy.
These findings, analysed under the Hoffman &amp; Zhao (2020) HRI empirical methods framework, support using VLMs as scalable, low-cost proxies for human legibility evaluation in robot motion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Key Metrics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800600"/>
            <a:ext cx="2103120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Participants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303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A261"/>
                </a:solidFill>
              </a:rPr>
              <a:t>N =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4800600"/>
            <a:ext cx="2103120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4846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VLM–Human
Accuracy 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52303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A261"/>
                </a:solidFill>
              </a:rPr>
              <a:t>&lt; 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4800600"/>
            <a:ext cx="2103120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846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Mean IoU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52303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A261"/>
                </a:solidFill>
              </a:rPr>
              <a:t>73.8%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4800600"/>
            <a:ext cx="2103120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4846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VLM Faster
Than Human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52303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A261"/>
                </a:solidFill>
              </a:rPr>
              <a:t>75%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4800600"/>
            <a:ext cx="2103120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4846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H5 Confidence
p-value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2303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A261"/>
                </a:solidFill>
              </a:rPr>
              <a:t>p &lt; .001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Hoffman &amp; Zhao (2020) framework  |  HRI Goal Inference Study  |  VLM-as-Proxy Analysis  |  Slide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